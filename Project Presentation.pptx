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35"/>
  </p:notesMasterIdLst>
  <p:handoutMasterIdLst>
    <p:handoutMasterId r:id="rId36"/>
  </p:handoutMasterIdLst>
  <p:sldIdLst>
    <p:sldId id="289" r:id="rId5"/>
    <p:sldId id="310" r:id="rId6"/>
    <p:sldId id="290" r:id="rId7"/>
    <p:sldId id="291" r:id="rId8"/>
    <p:sldId id="292" r:id="rId9"/>
    <p:sldId id="311" r:id="rId10"/>
    <p:sldId id="293" r:id="rId11"/>
    <p:sldId id="294" r:id="rId12"/>
    <p:sldId id="295" r:id="rId13"/>
    <p:sldId id="296" r:id="rId14"/>
    <p:sldId id="297" r:id="rId15"/>
    <p:sldId id="298" r:id="rId16"/>
    <p:sldId id="299" r:id="rId17"/>
    <p:sldId id="316" r:id="rId18"/>
    <p:sldId id="317" r:id="rId19"/>
    <p:sldId id="318" r:id="rId20"/>
    <p:sldId id="303" r:id="rId21"/>
    <p:sldId id="319" r:id="rId22"/>
    <p:sldId id="304" r:id="rId23"/>
    <p:sldId id="306" r:id="rId24"/>
    <p:sldId id="307" r:id="rId25"/>
    <p:sldId id="308" r:id="rId26"/>
    <p:sldId id="300" r:id="rId27"/>
    <p:sldId id="301" r:id="rId28"/>
    <p:sldId id="302" r:id="rId29"/>
    <p:sldId id="309" r:id="rId30"/>
    <p:sldId id="312" r:id="rId31"/>
    <p:sldId id="313" r:id="rId32"/>
    <p:sldId id="314" r:id="rId33"/>
    <p:sldId id="31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587DCD-AFBA-4EAD-A1F3-FDF11D64580F}" v="141" dt="2025-04-08T18:49:39.119"/>
    <p1510:client id="{CB2FB238-5332-4D39-A86F-7C6B3E7F755E}" v="3" dt="2025-04-09T09:11:06.13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94" autoAdjust="0"/>
  </p:normalViewPr>
  <p:slideViewPr>
    <p:cSldViewPr snapToGrid="0">
      <p:cViewPr varScale="1">
        <p:scale>
          <a:sx n="83" d="100"/>
          <a:sy n="83" d="100"/>
        </p:scale>
        <p:origin x="435" y="5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4/16/2025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4/16/2025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1863397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5DA344-5FA2-43F7-9D95-CA56C82B080A}" type="slidenum">
              <a:rPr lang="en-US" smtClean="0"/>
              <a:t>13</a:t>
            </a:fld>
            <a:endParaRPr lang="en-US"/>
          </a:p>
        </p:txBody>
      </p:sp>
    </p:spTree>
    <p:extLst>
      <p:ext uri="{BB962C8B-B14F-4D97-AF65-F5344CB8AC3E}">
        <p14:creationId xmlns:p14="http://schemas.microsoft.com/office/powerpoint/2010/main" val="3248203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4/16/2025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4/16/2025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s://www.oecd.org/statistics/mei/.html" TargetMode="External"/><Relationship Id="rId2" Type="http://schemas.openxmlformats.org/officeDocument/2006/relationships/hyperlink" Target="https://learn.microsoft.com/" TargetMode="Externa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
            <a:extLst>
              <a:ext uri="{FF2B5EF4-FFF2-40B4-BE49-F238E27FC236}">
                <a16:creationId xmlns:a16="http://schemas.microsoft.com/office/drawing/2014/main" id="{56FF7F9D-A528-02A3-B12B-0D14BF3364FE}"/>
              </a:ext>
            </a:extLst>
          </p:cNvPr>
          <p:cNvSpPr txBox="1"/>
          <p:nvPr/>
        </p:nvSpPr>
        <p:spPr>
          <a:xfrm>
            <a:off x="714114" y="1328107"/>
            <a:ext cx="10177671" cy="172354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2E5369">
                    <a:lumMod val="50000"/>
                  </a:srgbClr>
                </a:solidFill>
                <a:latin typeface="Times New Roman" panose="02020603050405020304" pitchFamily="18" charset="0"/>
                <a:ea typeface="Tahoma" pitchFamily="34" charset="0"/>
                <a:cs typeface="Times New Roman" panose="02020603050405020304" pitchFamily="18" charset="0"/>
              </a:rPr>
              <a:t>A Project Presentation </a:t>
            </a:r>
            <a:br>
              <a:rPr lang="en-US" sz="2000" dirty="0">
                <a:solidFill>
                  <a:srgbClr val="2E5369">
                    <a:lumMod val="50000"/>
                  </a:srgbClr>
                </a:solidFill>
                <a:latin typeface="Times New Roman" panose="02020603050405020304" pitchFamily="18" charset="0"/>
                <a:ea typeface="Tahoma" pitchFamily="34" charset="0"/>
                <a:cs typeface="Times New Roman" panose="02020603050405020304" pitchFamily="18" charset="0"/>
              </a:rPr>
            </a:br>
            <a:r>
              <a:rPr lang="en-US" sz="2000" dirty="0">
                <a:solidFill>
                  <a:srgbClr val="2E5369">
                    <a:lumMod val="50000"/>
                  </a:srgbClr>
                </a:solidFill>
                <a:latin typeface="Times New Roman" panose="02020603050405020304" pitchFamily="18" charset="0"/>
                <a:ea typeface="Tahoma" pitchFamily="34" charset="0"/>
                <a:cs typeface="Times New Roman" panose="02020603050405020304" pitchFamily="18" charset="0"/>
              </a:rPr>
              <a:t>on </a:t>
            </a:r>
          </a:p>
          <a:p>
            <a:pPr algn="ctr"/>
            <a:r>
              <a:rPr lang="en-US" sz="2200" b="1" dirty="0">
                <a:solidFill>
                  <a:srgbClr val="FF0000"/>
                </a:solidFill>
                <a:latin typeface="Times New Roman" panose="02020603050405020304" pitchFamily="18" charset="0"/>
                <a:ea typeface="Calibri"/>
                <a:cs typeface="Times New Roman" panose="02020603050405020304" pitchFamily="18" charset="0"/>
              </a:rPr>
              <a:t>ALUMINUM PRICE FORECASTING – UNIVARIATE TIME SERIES FORECASTING MODEL USING CRISP-ML(Q) METHODS</a:t>
            </a:r>
            <a:br>
              <a:rPr lang="en-US" sz="2000" dirty="0">
                <a:solidFill>
                  <a:srgbClr val="2E5369">
                    <a:lumMod val="50000"/>
                  </a:srgbClr>
                </a:solidFill>
                <a:latin typeface="Times New Roman" panose="02020603050405020304" pitchFamily="18" charset="0"/>
                <a:cs typeface="Times New Roman" panose="02020603050405020304" pitchFamily="18" charset="0"/>
              </a:rPr>
            </a:br>
            <a:endParaRPr lang="en-IN" sz="2000" dirty="0">
              <a:solidFill>
                <a:prstClr val="black"/>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38B0359-8CCF-EB29-6632-68923DEB34A6}"/>
              </a:ext>
            </a:extLst>
          </p:cNvPr>
          <p:cNvSpPr txBox="1"/>
          <p:nvPr/>
        </p:nvSpPr>
        <p:spPr>
          <a:xfrm>
            <a:off x="1686424" y="2730355"/>
            <a:ext cx="7680960" cy="405239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prstClr val="black"/>
                </a:solidFill>
                <a:latin typeface="Times New Roman" panose="02020603050405020304" pitchFamily="18" charset="0"/>
                <a:cs typeface="Times New Roman" panose="02020603050405020304" pitchFamily="18" charset="0"/>
              </a:rPr>
              <a:t>Submitted By </a:t>
            </a:r>
          </a:p>
          <a:p>
            <a:pPr algn="ctr"/>
            <a:endParaRPr lang="en-US" dirty="0">
              <a:solidFill>
                <a:prstClr val="black"/>
              </a:solidFill>
              <a:latin typeface="Times New Roman" panose="02020603050405020304" pitchFamily="18" charset="0"/>
              <a:cs typeface="Times New Roman" panose="02020603050405020304" pitchFamily="18" charset="0"/>
            </a:endParaRPr>
          </a:p>
          <a:p>
            <a:pPr algn="ctr">
              <a:spcAft>
                <a:spcPts val="800"/>
              </a:spcAft>
            </a:pPr>
            <a:r>
              <a:rPr lang="en-IN"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B. THARANATH GOUD	212K1A0502</a:t>
            </a:r>
          </a:p>
          <a:p>
            <a:pPr algn="ctr">
              <a:spcAft>
                <a:spcPts val="800"/>
              </a:spcAft>
            </a:pPr>
            <a:r>
              <a:rPr lang="en-IN"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T.VAMSI			212K1A0555</a:t>
            </a:r>
          </a:p>
          <a:p>
            <a:pPr algn="ctr">
              <a:spcAft>
                <a:spcPts val="800"/>
              </a:spcAft>
            </a:pPr>
            <a:r>
              <a:rPr lang="en-IN"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K.ESHWAR 		212K1A0522</a:t>
            </a:r>
          </a:p>
          <a:p>
            <a:pPr algn="ctr">
              <a:spcAft>
                <a:spcPts val="800"/>
              </a:spcAft>
            </a:pPr>
            <a:r>
              <a:rPr lang="en-IN"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B.VIKRAM 		212K1A0506</a:t>
            </a:r>
          </a:p>
          <a:p>
            <a:pPr algn="ctr">
              <a:spcAft>
                <a:spcPts val="800"/>
              </a:spcAft>
            </a:pPr>
            <a:r>
              <a:rPr lang="en-IN"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T.BASAVARAJ 		212K1A0554</a:t>
            </a:r>
          </a:p>
          <a:p>
            <a:pPr algn="ctr">
              <a:spcAft>
                <a:spcPts val="800"/>
              </a:spcAft>
            </a:pPr>
            <a:r>
              <a:rPr lang="en-US" dirty="0">
                <a:solidFill>
                  <a:prstClr val="black"/>
                </a:solidFill>
                <a:latin typeface="Times New Roman" panose="02020603050405020304" pitchFamily="18" charset="0"/>
                <a:cs typeface="Times New Roman" panose="02020603050405020304" pitchFamily="18" charset="0"/>
              </a:rPr>
              <a:t>Under the guidance of </a:t>
            </a:r>
          </a:p>
          <a:p>
            <a:pPr algn="ctr">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Dr. D. William Albert, M.Tech., Ph.D.,</a:t>
            </a:r>
          </a:p>
          <a:p>
            <a:pPr algn="ctr">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 Professor &amp; Head, </a:t>
            </a:r>
          </a:p>
          <a:p>
            <a:pPr algn="ctr">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Department of Computer Science Engineering.</a:t>
            </a:r>
          </a:p>
        </p:txBody>
      </p:sp>
      <p:pic>
        <p:nvPicPr>
          <p:cNvPr id="14" name="Picture 13">
            <a:extLst>
              <a:ext uri="{FF2B5EF4-FFF2-40B4-BE49-F238E27FC236}">
                <a16:creationId xmlns:a16="http://schemas.microsoft.com/office/drawing/2014/main" id="{EF1F8F8B-28F2-47AC-D9A3-2E1D031DC5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716" y="254039"/>
            <a:ext cx="1426356" cy="1219551"/>
          </a:xfrm>
          <a:prstGeom prst="rect">
            <a:avLst/>
          </a:prstGeom>
          <a:noFill/>
          <a:ln>
            <a:noFill/>
          </a:ln>
        </p:spPr>
      </p:pic>
      <p:sp>
        <p:nvSpPr>
          <p:cNvPr id="15" name="TextBox 14">
            <a:extLst>
              <a:ext uri="{FF2B5EF4-FFF2-40B4-BE49-F238E27FC236}">
                <a16:creationId xmlns:a16="http://schemas.microsoft.com/office/drawing/2014/main" id="{668BF36D-6B9A-7BA0-3B9E-A61BB4B5B5E8}"/>
              </a:ext>
            </a:extLst>
          </p:cNvPr>
          <p:cNvSpPr txBox="1"/>
          <p:nvPr/>
        </p:nvSpPr>
        <p:spPr>
          <a:xfrm>
            <a:off x="1831072" y="254039"/>
            <a:ext cx="8529856" cy="707886"/>
          </a:xfrm>
          <a:prstGeom prst="rect">
            <a:avLst/>
          </a:prstGeom>
          <a:noFill/>
        </p:spPr>
        <p:txBody>
          <a:bodyPr wrap="square" rtlCol="0">
            <a:spAutoFit/>
          </a:bodyPr>
          <a:lstStyle/>
          <a:p>
            <a:pPr algn="ctr" defTabSz="457200"/>
            <a:r>
              <a:rPr lang="en-US" sz="2400" b="1" dirty="0">
                <a:latin typeface="Times New Roman" panose="02020603050405020304" pitchFamily="18" charset="0"/>
                <a:cs typeface="Times New Roman" panose="02020603050405020304" pitchFamily="18" charset="0"/>
              </a:rPr>
              <a:t>BHEEMA INSTITUTE OF TECHNOLOGY &amp; SCIENCE</a:t>
            </a:r>
          </a:p>
          <a:p>
            <a:pPr algn="ctr" defTabSz="457200"/>
            <a:r>
              <a:rPr lang="en-US" sz="1600" dirty="0">
                <a:solidFill>
                  <a:srgbClr val="000000"/>
                </a:solidFill>
                <a:latin typeface="Times New Roman" panose="02020603050405020304" pitchFamily="18" charset="0"/>
                <a:cs typeface="Times New Roman" panose="02020603050405020304" pitchFamily="18" charset="0"/>
              </a:rPr>
              <a:t>ALUR ROAD, ADONI-51830, KURNOOL DIST, A.P.</a:t>
            </a:r>
            <a:endParaRPr lang="en-IN"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B03513-EBB9-A9FF-2677-1A61771FE77A}"/>
              </a:ext>
            </a:extLst>
          </p:cNvPr>
          <p:cNvSpPr txBox="1"/>
          <p:nvPr/>
        </p:nvSpPr>
        <p:spPr>
          <a:xfrm>
            <a:off x="859767" y="553031"/>
            <a:ext cx="6124754" cy="523220"/>
          </a:xfrm>
          <a:prstGeom prst="rect">
            <a:avLst/>
          </a:prstGeom>
          <a:noFill/>
        </p:spPr>
        <p:txBody>
          <a:bodyPr wrap="square">
            <a:spAutoFit/>
          </a:bodyPr>
          <a:lstStyle/>
          <a:p>
            <a:r>
              <a:rPr lang="en-IN" sz="2800" b="1" dirty="0">
                <a:solidFill>
                  <a:schemeClr val="tx2">
                    <a:lumMod val="50000"/>
                    <a:lumOff val="50000"/>
                  </a:schemeClr>
                </a:solidFill>
                <a:latin typeface="Times New Roman" panose="02020603050405020304" pitchFamily="18" charset="0"/>
                <a:cs typeface="Times New Roman" panose="02020603050405020304" pitchFamily="18" charset="0"/>
              </a:rPr>
              <a:t>CONTENTS</a:t>
            </a:r>
            <a:endParaRPr lang="en-IN" sz="2800" dirty="0"/>
          </a:p>
        </p:txBody>
      </p:sp>
      <p:sp>
        <p:nvSpPr>
          <p:cNvPr id="6" name="TextBox 5">
            <a:extLst>
              <a:ext uri="{FF2B5EF4-FFF2-40B4-BE49-F238E27FC236}">
                <a16:creationId xmlns:a16="http://schemas.microsoft.com/office/drawing/2014/main" id="{1EF6F0E7-DBC2-64DC-0D34-B8050E362A53}"/>
              </a:ext>
            </a:extLst>
          </p:cNvPr>
          <p:cNvSpPr txBox="1"/>
          <p:nvPr/>
        </p:nvSpPr>
        <p:spPr>
          <a:xfrm>
            <a:off x="1440612" y="1116508"/>
            <a:ext cx="6544574" cy="5262979"/>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Abstract</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Introduction</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Literature Survey</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Existing System</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Disadvantages of Existing System</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Proposed System</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Advantages of Proposed System</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System Requirements</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System Architecture</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UML Diagrams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Output Screens</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Conclusion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Future Enhancements</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668548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FDBB3CC-A90F-265F-53B1-FA9E383549AE}"/>
              </a:ext>
            </a:extLst>
          </p:cNvPr>
          <p:cNvSpPr txBox="1"/>
          <p:nvPr/>
        </p:nvSpPr>
        <p:spPr>
          <a:xfrm>
            <a:off x="1361564" y="1151020"/>
            <a:ext cx="8922348" cy="5632311"/>
          </a:xfrm>
          <a:prstGeom prst="rect">
            <a:avLst/>
          </a:prstGeom>
          <a:noFill/>
        </p:spPr>
        <p:txBody>
          <a:bodyPr wrap="square" rtlCol="0">
            <a:spAutoFit/>
          </a:bodyPr>
          <a:lstStyle/>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project focuses on forecasting aluminum prices using historical daily price data.</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dataset containing 1,887 interpolated daily records from January 2020 onward was used for analysis.</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preprocessing included handling missing values, ensuring consistent date formatting, and applying interpolation for continuity.</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Time series modeling techniques such as Random Forest were explored to capture trends and seasonality.</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model performance was evaluated using metrics like RMSE and MAE to ensure prediction accuracy.</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forecasting results aim to support stakeholders in decision-making related to pricing, investment, and supply chain planning.</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study demonstrates the value of data-driven approaches in commodities forecasting, particularly for strategic metals like aluminum.</a:t>
            </a:r>
            <a:endParaRPr lang="en-IN" sz="24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6180D23-4C4B-F5A3-D708-46DE8887F529}"/>
              </a:ext>
            </a:extLst>
          </p:cNvPr>
          <p:cNvSpPr txBox="1"/>
          <p:nvPr/>
        </p:nvSpPr>
        <p:spPr>
          <a:xfrm>
            <a:off x="1044185" y="501445"/>
            <a:ext cx="2420856" cy="584775"/>
          </a:xfrm>
          <a:prstGeom prst="rect">
            <a:avLst/>
          </a:prstGeom>
          <a:noFill/>
        </p:spPr>
        <p:txBody>
          <a:bodyPr wrap="non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3668524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760B2C-691A-8223-9B55-07781F70740E}"/>
              </a:ext>
            </a:extLst>
          </p:cNvPr>
          <p:cNvSpPr txBox="1"/>
          <p:nvPr/>
        </p:nvSpPr>
        <p:spPr>
          <a:xfrm>
            <a:off x="920299" y="501445"/>
            <a:ext cx="5869858"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B45EFE0-052E-6AE7-B896-5E94D6978EE6}"/>
              </a:ext>
            </a:extLst>
          </p:cNvPr>
          <p:cNvSpPr txBox="1"/>
          <p:nvPr/>
        </p:nvSpPr>
        <p:spPr>
          <a:xfrm>
            <a:off x="1200509" y="1128015"/>
            <a:ext cx="10077091" cy="3970318"/>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Aluminum is a crucial industrial metal utilized in various sectors, including construction, transportation, and manufacturing. Its widespread use means that fluctuations in aluminum prices can significantly affect global markets and supply chains. </a:t>
            </a:r>
          </a:p>
          <a:p>
            <a:pPr algn="just"/>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project aims to develop a forecasting model using historical aluminum price data from January 2020, which includes 1,887 daily interpolated records</a:t>
            </a:r>
          </a:p>
          <a:p>
            <a:pPr algn="just"/>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findings are intended to facilitate data-driven decision-making in commodity markets, particularly in planning and risk mitigation strategies related to aluminum pricing.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7415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979D43-4D61-C410-0595-D7DB469F2143}"/>
              </a:ext>
            </a:extLst>
          </p:cNvPr>
          <p:cNvSpPr txBox="1"/>
          <p:nvPr/>
        </p:nvSpPr>
        <p:spPr>
          <a:xfrm>
            <a:off x="904337" y="1888166"/>
            <a:ext cx="10383327" cy="3693319"/>
          </a:xfrm>
          <a:prstGeom prst="rect">
            <a:avLst/>
          </a:prstGeom>
          <a:noFill/>
        </p:spPr>
        <p:txBody>
          <a:bodyPr wrap="square">
            <a:spAutoFit/>
          </a:bodyPr>
          <a:lstStyle/>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project aims to forecast future aluminum prices using historical daily data.</a:t>
            </a:r>
          </a:p>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Aluminum pricing is vital for industries like manufacturing, construction, and finance.</a:t>
            </a:r>
          </a:p>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dataset consists of 1,887 daily records, starting from January 2020.</a:t>
            </a:r>
          </a:p>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Time series forecasting techniques used include Random Forest, ARIMA, and LSTM neural networks.</a:t>
            </a:r>
          </a:p>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Model performance is evaluated using accuracy metrics like RMSE (Root Mean Square Error) and MAE (Mean Absolute Error).</a:t>
            </a:r>
          </a:p>
        </p:txBody>
      </p:sp>
      <p:sp>
        <p:nvSpPr>
          <p:cNvPr id="6" name="TextBox 5">
            <a:extLst>
              <a:ext uri="{FF2B5EF4-FFF2-40B4-BE49-F238E27FC236}">
                <a16:creationId xmlns:a16="http://schemas.microsoft.com/office/drawing/2014/main" id="{7782D21C-D356-CD4A-B07C-B63CD83194A1}"/>
              </a:ext>
            </a:extLst>
          </p:cNvPr>
          <p:cNvSpPr txBox="1"/>
          <p:nvPr/>
        </p:nvSpPr>
        <p:spPr>
          <a:xfrm>
            <a:off x="871267" y="529087"/>
            <a:ext cx="5124090"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LITERATURE SURVEY</a:t>
            </a:r>
          </a:p>
        </p:txBody>
      </p:sp>
      <p:sp>
        <p:nvSpPr>
          <p:cNvPr id="2" name="TextBox 1">
            <a:extLst>
              <a:ext uri="{FF2B5EF4-FFF2-40B4-BE49-F238E27FC236}">
                <a16:creationId xmlns:a16="http://schemas.microsoft.com/office/drawing/2014/main" id="{6AA69366-3367-12BF-F6A0-88427B1D9955}"/>
              </a:ext>
            </a:extLst>
          </p:cNvPr>
          <p:cNvSpPr txBox="1"/>
          <p:nvPr/>
        </p:nvSpPr>
        <p:spPr>
          <a:xfrm>
            <a:off x="904336" y="1364946"/>
            <a:ext cx="542314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MACHINE LEARNING</a:t>
            </a:r>
          </a:p>
        </p:txBody>
      </p:sp>
    </p:spTree>
    <p:extLst>
      <p:ext uri="{BB962C8B-B14F-4D97-AF65-F5344CB8AC3E}">
        <p14:creationId xmlns:p14="http://schemas.microsoft.com/office/powerpoint/2010/main" val="3869286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A0B44-EDCE-E83C-09AF-2843FD0E11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86F09F-62CE-5562-0A50-396988F928DE}"/>
              </a:ext>
            </a:extLst>
          </p:cNvPr>
          <p:cNvSpPr txBox="1"/>
          <p:nvPr/>
        </p:nvSpPr>
        <p:spPr>
          <a:xfrm>
            <a:off x="770626" y="655608"/>
            <a:ext cx="5486400" cy="523220"/>
          </a:xfrm>
          <a:prstGeom prst="rect">
            <a:avLst/>
          </a:prstGeom>
          <a:noFill/>
        </p:spPr>
        <p:txBody>
          <a:bodyPr wrap="square" rtlCol="0">
            <a:spAutoFit/>
          </a:bodyPr>
          <a:lstStyle/>
          <a:p>
            <a:r>
              <a:rPr lang="en-IN" sz="2800" b="1" dirty="0">
                <a:solidFill>
                  <a:schemeClr val="tx2">
                    <a:lumMod val="50000"/>
                    <a:lumOff val="50000"/>
                  </a:schemeClr>
                </a:solidFill>
                <a:latin typeface="Times New Roman" panose="02020603050405020304" pitchFamily="18" charset="0"/>
                <a:cs typeface="Times New Roman" panose="02020603050405020304" pitchFamily="18" charset="0"/>
              </a:rPr>
              <a:t>CRISP-ML(Q)</a:t>
            </a:r>
          </a:p>
        </p:txBody>
      </p:sp>
      <p:sp>
        <p:nvSpPr>
          <p:cNvPr id="3" name="TextBox 2">
            <a:extLst>
              <a:ext uri="{FF2B5EF4-FFF2-40B4-BE49-F238E27FC236}">
                <a16:creationId xmlns:a16="http://schemas.microsoft.com/office/drawing/2014/main" id="{D22FA30F-38CD-7AFF-A6B7-583838FCDC87}"/>
              </a:ext>
            </a:extLst>
          </p:cNvPr>
          <p:cNvSpPr txBox="1"/>
          <p:nvPr/>
        </p:nvSpPr>
        <p:spPr>
          <a:xfrm>
            <a:off x="1121434" y="1368725"/>
            <a:ext cx="1031719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Cross Industry Standard Process for Machine Learning with Quality Assurance.</a:t>
            </a:r>
          </a:p>
        </p:txBody>
      </p:sp>
      <p:sp>
        <p:nvSpPr>
          <p:cNvPr id="7" name="TextBox 6">
            <a:extLst>
              <a:ext uri="{FF2B5EF4-FFF2-40B4-BE49-F238E27FC236}">
                <a16:creationId xmlns:a16="http://schemas.microsoft.com/office/drawing/2014/main" id="{EB2BC1EB-798A-3F01-9430-D31781A557F6}"/>
              </a:ext>
            </a:extLst>
          </p:cNvPr>
          <p:cNvSpPr txBox="1"/>
          <p:nvPr/>
        </p:nvSpPr>
        <p:spPr>
          <a:xfrm>
            <a:off x="1667773" y="2174377"/>
            <a:ext cx="8482642" cy="3046988"/>
          </a:xfrm>
          <a:prstGeom prst="rect">
            <a:avLst/>
          </a:prstGeom>
          <a:noFill/>
        </p:spPr>
        <p:txBody>
          <a:bodyPr wrap="square" rtlCol="0">
            <a:spAutoFit/>
          </a:bodyPr>
          <a:lstStyle/>
          <a:p>
            <a:pPr marL="342900" indent="-342900" algn="just">
              <a:spcBef>
                <a:spcPts val="0"/>
              </a:spcBef>
              <a:buSzPts val="1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Recent research in commodity price forecasting emphasizes the power of time series models, especially ARIMA, SARIMA, and Exponential Smoothing. The CRISP-ML(Q) methodology has emerged as a quality-driven lifecycle for machine learning projects, ensuring reliable model development, monitoring, and continuous improvement. Studies show that univariate models like Holt-Winters perform well for stable price patterns, while hybrid approaches may be needed for volatile commodities.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026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3EA134-19FD-B789-3D04-5A45F883E6A7}"/>
              </a:ext>
            </a:extLst>
          </p:cNvPr>
          <p:cNvSpPr txBox="1"/>
          <p:nvPr/>
        </p:nvSpPr>
        <p:spPr>
          <a:xfrm>
            <a:off x="1561381" y="1556946"/>
            <a:ext cx="9069238" cy="3539430"/>
          </a:xfrm>
          <a:prstGeom prst="rect">
            <a:avLst/>
          </a:prstGeom>
          <a:noFill/>
        </p:spPr>
        <p:txBody>
          <a:bodyPr wrap="square">
            <a:spAutoFit/>
          </a:bodyPr>
          <a:lstStyle/>
          <a:p>
            <a:pPr marL="342900" indent="-342900" algn="just">
              <a:buFont typeface="Wingdings" panose="05000000000000000000" pitchFamily="2" charset="2"/>
              <a:buChar char="Ø"/>
            </a:pPr>
            <a:r>
              <a:rPr lang="en-US" altLang="en-GB" sz="2800" dirty="0">
                <a:latin typeface="Times New Roman" panose="02020603050405020304" charset="0"/>
                <a:cs typeface="Times New Roman" panose="02020603050405020304" charset="0"/>
              </a:rPr>
              <a:t>Aluminum price forecasting is primarily done using manual methods, such as Excel trendlines.</a:t>
            </a:r>
          </a:p>
          <a:p>
            <a:pPr marL="342900" indent="-342900" algn="just">
              <a:buFont typeface="Wingdings" panose="05000000000000000000" pitchFamily="2" charset="2"/>
              <a:buChar char="Ø"/>
            </a:pPr>
            <a:r>
              <a:rPr lang="en-US" altLang="en-GB" sz="2800" dirty="0">
                <a:latin typeface="Times New Roman" panose="02020603050405020304" charset="0"/>
                <a:cs typeface="Times New Roman" panose="02020603050405020304" charset="0"/>
              </a:rPr>
              <a:t>Basic statistical tools are used with limited automation.</a:t>
            </a:r>
          </a:p>
          <a:p>
            <a:pPr marL="342900" indent="-342900" algn="just">
              <a:buFont typeface="Wingdings" panose="05000000000000000000" pitchFamily="2" charset="2"/>
              <a:buChar char="Ø"/>
            </a:pPr>
            <a:r>
              <a:rPr lang="en-US" altLang="en-GB" sz="2800" dirty="0">
                <a:latin typeface="Times New Roman" panose="02020603050405020304" charset="0"/>
                <a:cs typeface="Times New Roman" panose="02020603050405020304" charset="0"/>
              </a:rPr>
              <a:t>Many industries still depend on human judgment to interpret market trends.</a:t>
            </a:r>
          </a:p>
          <a:p>
            <a:pPr marL="342900" indent="-342900" algn="just">
              <a:buFont typeface="Wingdings" panose="05000000000000000000" pitchFamily="2" charset="2"/>
              <a:buChar char="Ø"/>
            </a:pPr>
            <a:r>
              <a:rPr lang="en-US" altLang="en-GB" sz="2800" dirty="0">
                <a:latin typeface="Times New Roman" panose="02020603050405020304" charset="0"/>
                <a:cs typeface="Times New Roman" panose="02020603050405020304" charset="0"/>
              </a:rPr>
              <a:t>Delays in decision-making.</a:t>
            </a:r>
          </a:p>
          <a:p>
            <a:pPr marL="342900" indent="-342900" algn="just">
              <a:buFont typeface="Wingdings" panose="05000000000000000000" pitchFamily="2" charset="2"/>
              <a:buChar char="Ø"/>
            </a:pPr>
            <a:r>
              <a:rPr lang="en-US" altLang="en-GB" sz="2800" dirty="0">
                <a:latin typeface="Times New Roman" panose="02020603050405020304" charset="0"/>
                <a:cs typeface="Times New Roman" panose="02020603050405020304" charset="0"/>
              </a:rPr>
              <a:t>Human errors in analysis and predictions.</a:t>
            </a:r>
          </a:p>
          <a:p>
            <a:pPr marL="342900" indent="-342900" algn="just">
              <a:buFont typeface="Wingdings" panose="05000000000000000000" pitchFamily="2" charset="2"/>
              <a:buChar char="Ø"/>
            </a:pPr>
            <a:r>
              <a:rPr lang="en-US" altLang="en-GB" sz="2800" dirty="0">
                <a:latin typeface="Times New Roman" panose="02020603050405020304" charset="0"/>
                <a:cs typeface="Times New Roman" panose="02020603050405020304" charset="0"/>
              </a:rPr>
              <a:t>Missed opportunities due to inefficient pricing strategies.</a:t>
            </a:r>
          </a:p>
        </p:txBody>
      </p:sp>
      <p:sp>
        <p:nvSpPr>
          <p:cNvPr id="7" name="TextBox 6">
            <a:extLst>
              <a:ext uri="{FF2B5EF4-FFF2-40B4-BE49-F238E27FC236}">
                <a16:creationId xmlns:a16="http://schemas.microsoft.com/office/drawing/2014/main" id="{35E5B39B-CCF6-A6D9-9F23-9EAF6A4EC05E}"/>
              </a:ext>
            </a:extLst>
          </p:cNvPr>
          <p:cNvSpPr txBox="1"/>
          <p:nvPr/>
        </p:nvSpPr>
        <p:spPr>
          <a:xfrm>
            <a:off x="908649" y="517585"/>
            <a:ext cx="4612256"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1482704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E2318E-CAF1-8533-58B9-A3D353229591}"/>
              </a:ext>
            </a:extLst>
          </p:cNvPr>
          <p:cNvSpPr txBox="1"/>
          <p:nvPr/>
        </p:nvSpPr>
        <p:spPr>
          <a:xfrm>
            <a:off x="1486618" y="1207700"/>
            <a:ext cx="10403457" cy="3354765"/>
          </a:xfrm>
          <a:prstGeom prst="rect">
            <a:avLst/>
          </a:prstGeom>
          <a:noFill/>
        </p:spPr>
        <p:txBody>
          <a:bodyPr wrap="square" rtlCol="0">
            <a:spAutoFit/>
          </a:bodyPr>
          <a:lstStyle/>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Prone to human error</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Not scalable or automated</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No predictive capability for future prices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Limited use of historical patterns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No real-time updates or alert mechanisms</a:t>
            </a:r>
          </a:p>
        </p:txBody>
      </p:sp>
      <p:sp>
        <p:nvSpPr>
          <p:cNvPr id="7" name="TextBox 6">
            <a:extLst>
              <a:ext uri="{FF2B5EF4-FFF2-40B4-BE49-F238E27FC236}">
                <a16:creationId xmlns:a16="http://schemas.microsoft.com/office/drawing/2014/main" id="{DC558BF3-9DA1-4B19-C690-7AA82CB6EC59}"/>
              </a:ext>
            </a:extLst>
          </p:cNvPr>
          <p:cNvSpPr txBox="1"/>
          <p:nvPr/>
        </p:nvSpPr>
        <p:spPr>
          <a:xfrm>
            <a:off x="833888" y="506083"/>
            <a:ext cx="9460302"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DISADVANTAGES OF THE EXISTING SYSTEM</a:t>
            </a:r>
          </a:p>
        </p:txBody>
      </p:sp>
    </p:spTree>
    <p:extLst>
      <p:ext uri="{BB962C8B-B14F-4D97-AF65-F5344CB8AC3E}">
        <p14:creationId xmlns:p14="http://schemas.microsoft.com/office/powerpoint/2010/main" val="2864880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669A95-A4EA-F8AC-0D68-6F9861F5B8AC}"/>
              </a:ext>
            </a:extLst>
          </p:cNvPr>
          <p:cNvSpPr txBox="1"/>
          <p:nvPr/>
        </p:nvSpPr>
        <p:spPr>
          <a:xfrm>
            <a:off x="862641" y="540588"/>
            <a:ext cx="6211019"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PROPOSED SYSTEM</a:t>
            </a:r>
          </a:p>
        </p:txBody>
      </p:sp>
      <p:sp>
        <p:nvSpPr>
          <p:cNvPr id="5" name="TextBox 4">
            <a:extLst>
              <a:ext uri="{FF2B5EF4-FFF2-40B4-BE49-F238E27FC236}">
                <a16:creationId xmlns:a16="http://schemas.microsoft.com/office/drawing/2014/main" id="{A23BE8C0-A617-CE2E-504C-E9900BFEACF3}"/>
              </a:ext>
            </a:extLst>
          </p:cNvPr>
          <p:cNvSpPr txBox="1"/>
          <p:nvPr/>
        </p:nvSpPr>
        <p:spPr>
          <a:xfrm>
            <a:off x="638356" y="1280638"/>
            <a:ext cx="11835441" cy="4524315"/>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Introduces a time series-based forecasting system using univariate models.</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Utilizes historical monthly aluminum price data for analysis.</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Applies statistical models such as: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ARIMA (AutoRegressive Integrated Moving Average)</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Holt-Winters Exponential Smoothing</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Outputs future price forecasts with improved accuracy.</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Model development includes: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Training, validation, and testing using industry-standard practices.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Reduced human error in price forecasting.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580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A4BF71-B288-87D0-FC38-A0D8F593494F}"/>
              </a:ext>
            </a:extLst>
          </p:cNvPr>
          <p:cNvSpPr txBox="1"/>
          <p:nvPr/>
        </p:nvSpPr>
        <p:spPr>
          <a:xfrm>
            <a:off x="948906" y="494582"/>
            <a:ext cx="9466053"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ADVANTAGES OF THE PROPOSED SYSTEM</a:t>
            </a:r>
          </a:p>
        </p:txBody>
      </p:sp>
      <p:sp>
        <p:nvSpPr>
          <p:cNvPr id="5" name="TextBox 4">
            <a:extLst>
              <a:ext uri="{FF2B5EF4-FFF2-40B4-BE49-F238E27FC236}">
                <a16:creationId xmlns:a16="http://schemas.microsoft.com/office/drawing/2014/main" id="{B60D3772-6D48-10CD-A63D-BA3B7CC59597}"/>
              </a:ext>
            </a:extLst>
          </p:cNvPr>
          <p:cNvSpPr txBox="1"/>
          <p:nvPr/>
        </p:nvSpPr>
        <p:spPr>
          <a:xfrm>
            <a:off x="1196194" y="1403231"/>
            <a:ext cx="8793193" cy="3354765"/>
          </a:xfrm>
          <a:prstGeom prst="rect">
            <a:avLst/>
          </a:prstGeom>
          <a:noFill/>
        </p:spPr>
        <p:txBody>
          <a:bodyPr wrap="square" rtlCol="0">
            <a:spAutoFit/>
          </a:bodyPr>
          <a:lstStyle/>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Automated and scalable solution.</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Reduces human dependency.</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Uses historical patterns for forecasting.</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Produces accurate, short- and long-term price predictions.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Helps businesses plan better and reduce financial risk.</a:t>
            </a:r>
          </a:p>
        </p:txBody>
      </p:sp>
    </p:spTree>
    <p:extLst>
      <p:ext uri="{BB962C8B-B14F-4D97-AF65-F5344CB8AC3E}">
        <p14:creationId xmlns:p14="http://schemas.microsoft.com/office/powerpoint/2010/main" val="4203177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685AA6D-6CAF-4F63-20B9-AF7709A87195}"/>
              </a:ext>
            </a:extLst>
          </p:cNvPr>
          <p:cNvSpPr txBox="1"/>
          <p:nvPr/>
        </p:nvSpPr>
        <p:spPr>
          <a:xfrm>
            <a:off x="1207699" y="1385372"/>
            <a:ext cx="9776602" cy="4062651"/>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Hardware Requirements</a:t>
            </a:r>
          </a:p>
          <a:p>
            <a:r>
              <a:rPr lang="en-IN" sz="2400" dirty="0">
                <a:solidFill>
                  <a:schemeClr val="tx2">
                    <a:lumMod val="50000"/>
                    <a:lumOff val="50000"/>
                  </a:schemeClr>
                </a:solidFill>
                <a:latin typeface="Times New Roman" panose="02020603050405020304" pitchFamily="18" charset="0"/>
                <a:cs typeface="Times New Roman" panose="02020603050405020304" pitchFamily="18" charset="0"/>
              </a:rPr>
              <a:t>Processor: </a:t>
            </a:r>
            <a:r>
              <a:rPr lang="en-IN" sz="2400" dirty="0">
                <a:latin typeface="Times New Roman" panose="02020603050405020304" pitchFamily="18" charset="0"/>
                <a:cs typeface="Times New Roman" panose="02020603050405020304" pitchFamily="18" charset="0"/>
              </a:rPr>
              <a:t>Minimum Intel Core i3</a:t>
            </a:r>
          </a:p>
          <a:p>
            <a:r>
              <a:rPr lang="en-IN" sz="2400" dirty="0">
                <a:solidFill>
                  <a:schemeClr val="tx2">
                    <a:lumMod val="50000"/>
                    <a:lumOff val="50000"/>
                  </a:schemeClr>
                </a:solidFill>
                <a:latin typeface="Times New Roman" panose="02020603050405020304" pitchFamily="18" charset="0"/>
                <a:cs typeface="Times New Roman" panose="02020603050405020304" pitchFamily="18" charset="0"/>
              </a:rPr>
              <a:t>Memory:  </a:t>
            </a:r>
            <a:r>
              <a:rPr lang="en-IN" sz="2400" dirty="0">
                <a:latin typeface="Times New Roman" panose="02020603050405020304" pitchFamily="18" charset="0"/>
                <a:cs typeface="Times New Roman" panose="02020603050405020304" pitchFamily="18" charset="0"/>
              </a:rPr>
              <a:t>4GB RAM (16GB recommended for large datasets)</a:t>
            </a:r>
          </a:p>
          <a:p>
            <a:r>
              <a:rPr lang="en-IN" sz="2400" dirty="0">
                <a:solidFill>
                  <a:schemeClr val="tx2">
                    <a:lumMod val="50000"/>
                    <a:lumOff val="50000"/>
                  </a:schemeClr>
                </a:solidFill>
                <a:latin typeface="Times New Roman" panose="02020603050405020304" pitchFamily="18" charset="0"/>
                <a:cs typeface="Times New Roman" panose="02020603050405020304" pitchFamily="18" charset="0"/>
              </a:rPr>
              <a:t>Storage: </a:t>
            </a:r>
            <a:r>
              <a:rPr lang="en-IN" sz="2400" dirty="0">
                <a:latin typeface="Times New Roman" panose="02020603050405020304" pitchFamily="18" charset="0"/>
                <a:cs typeface="Times New Roman" panose="02020603050405020304" pitchFamily="18" charset="0"/>
              </a:rPr>
              <a:t>500GB SSD (for data storage and processing)</a:t>
            </a:r>
          </a:p>
          <a:p>
            <a:r>
              <a:rPr lang="en-IN" sz="2400" dirty="0">
                <a:solidFill>
                  <a:schemeClr val="tx2">
                    <a:lumMod val="50000"/>
                    <a:lumOff val="50000"/>
                  </a:schemeClr>
                </a:solidFill>
                <a:latin typeface="Times New Roman" panose="02020603050405020304" pitchFamily="18" charset="0"/>
                <a:cs typeface="Times New Roman" panose="02020603050405020304" pitchFamily="18" charset="0"/>
              </a:rPr>
              <a:t>Graphics: </a:t>
            </a:r>
            <a:r>
              <a:rPr lang="en-IN" sz="2400" dirty="0">
                <a:latin typeface="Times New Roman" panose="02020603050405020304" pitchFamily="18" charset="0"/>
                <a:cs typeface="Times New Roman" panose="02020603050405020304" pitchFamily="18" charset="0"/>
              </a:rPr>
              <a:t>Integrated graphics sufficient (dedicated GPU optional for advanced machine learning)</a:t>
            </a:r>
          </a:p>
          <a:p>
            <a:endParaRPr lang="en-IN"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Software Requirements</a:t>
            </a:r>
          </a:p>
          <a:p>
            <a:r>
              <a:rPr lang="en-IN" sz="2400" dirty="0">
                <a:solidFill>
                  <a:schemeClr val="tx2">
                    <a:lumMod val="50000"/>
                    <a:lumOff val="50000"/>
                  </a:schemeClr>
                </a:solidFill>
                <a:latin typeface="Times New Roman" panose="02020603050405020304" pitchFamily="18" charset="0"/>
                <a:cs typeface="Times New Roman" panose="02020603050405020304" pitchFamily="18" charset="0"/>
              </a:rPr>
              <a:t>Operating System: </a:t>
            </a:r>
            <a:r>
              <a:rPr lang="en-IN" sz="2400" dirty="0">
                <a:latin typeface="Times New Roman" panose="02020603050405020304" pitchFamily="18" charset="0"/>
                <a:cs typeface="Times New Roman" panose="02020603050405020304" pitchFamily="18" charset="0"/>
              </a:rPr>
              <a:t>Windows 10/11</a:t>
            </a:r>
          </a:p>
          <a:p>
            <a:r>
              <a:rPr lang="en-IN" sz="2400" dirty="0">
                <a:solidFill>
                  <a:schemeClr val="tx2">
                    <a:lumMod val="50000"/>
                    <a:lumOff val="50000"/>
                  </a:schemeClr>
                </a:solidFill>
                <a:latin typeface="Times New Roman" panose="02020603050405020304" pitchFamily="18" charset="0"/>
                <a:cs typeface="Times New Roman" panose="02020603050405020304" pitchFamily="18" charset="0"/>
              </a:rPr>
              <a:t>Python: </a:t>
            </a:r>
            <a:r>
              <a:rPr lang="en-IN" sz="2400" dirty="0">
                <a:latin typeface="Times New Roman" panose="02020603050405020304" pitchFamily="18" charset="0"/>
                <a:cs typeface="Times New Roman" panose="02020603050405020304" pitchFamily="18" charset="0"/>
              </a:rPr>
              <a:t>Version 3.x</a:t>
            </a:r>
          </a:p>
          <a:p>
            <a:r>
              <a:rPr lang="en-IN" sz="2400" dirty="0">
                <a:solidFill>
                  <a:schemeClr val="tx2">
                    <a:lumMod val="50000"/>
                    <a:lumOff val="50000"/>
                  </a:schemeClr>
                </a:solidFill>
                <a:latin typeface="Times New Roman" panose="02020603050405020304" pitchFamily="18" charset="0"/>
                <a:cs typeface="Times New Roman" panose="02020603050405020304" pitchFamily="18" charset="0"/>
              </a:rPr>
              <a:t>Development Environment: </a:t>
            </a:r>
            <a:r>
              <a:rPr lang="en-IN" sz="2400" dirty="0">
                <a:latin typeface="Times New Roman" panose="02020603050405020304" pitchFamily="18" charset="0"/>
                <a:cs typeface="Times New Roman" panose="02020603050405020304" pitchFamily="18" charset="0"/>
              </a:rPr>
              <a:t>Jupyter Notebook, PyCharm/Google Colab</a:t>
            </a:r>
          </a:p>
        </p:txBody>
      </p:sp>
      <p:sp>
        <p:nvSpPr>
          <p:cNvPr id="8" name="TextBox 7">
            <a:extLst>
              <a:ext uri="{FF2B5EF4-FFF2-40B4-BE49-F238E27FC236}">
                <a16:creationId xmlns:a16="http://schemas.microsoft.com/office/drawing/2014/main" id="{2EAFC71F-0C5C-6F6C-7079-C972DBEE251C}"/>
              </a:ext>
            </a:extLst>
          </p:cNvPr>
          <p:cNvSpPr txBox="1"/>
          <p:nvPr/>
        </p:nvSpPr>
        <p:spPr>
          <a:xfrm>
            <a:off x="874144" y="552091"/>
            <a:ext cx="6452558"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SYSTEM REQUIRMENTS</a:t>
            </a:r>
          </a:p>
        </p:txBody>
      </p:sp>
    </p:spTree>
    <p:extLst>
      <p:ext uri="{BB962C8B-B14F-4D97-AF65-F5344CB8AC3E}">
        <p14:creationId xmlns:p14="http://schemas.microsoft.com/office/powerpoint/2010/main" val="2659440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F4A20C-640C-B09F-3B96-FD06CBD232BA}"/>
              </a:ext>
            </a:extLst>
          </p:cNvPr>
          <p:cNvSpPr txBox="1"/>
          <p:nvPr/>
        </p:nvSpPr>
        <p:spPr>
          <a:xfrm>
            <a:off x="695864" y="0"/>
            <a:ext cx="5722188"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SYSTEM ARCHITECTURE</a:t>
            </a:r>
          </a:p>
        </p:txBody>
      </p:sp>
      <p:pic>
        <p:nvPicPr>
          <p:cNvPr id="1040" name="Picture 16">
            <a:extLst>
              <a:ext uri="{FF2B5EF4-FFF2-40B4-BE49-F238E27FC236}">
                <a16:creationId xmlns:a16="http://schemas.microsoft.com/office/drawing/2014/main" id="{3A85DC0F-0EFD-B142-7369-45C3BCD98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273" y="584776"/>
            <a:ext cx="10927150" cy="6097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221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60B519-521F-629A-274A-B56FD9F195B0}"/>
              </a:ext>
            </a:extLst>
          </p:cNvPr>
          <p:cNvSpPr txBox="1"/>
          <p:nvPr/>
        </p:nvSpPr>
        <p:spPr>
          <a:xfrm>
            <a:off x="845389" y="529087"/>
            <a:ext cx="8603411" cy="584775"/>
          </a:xfrm>
          <a:prstGeom prst="rect">
            <a:avLst/>
          </a:prstGeom>
          <a:noFill/>
        </p:spPr>
        <p:txBody>
          <a:bodyPr wrap="square" rtlCol="0">
            <a:spAutoFit/>
          </a:bodyPr>
          <a:lstStyle/>
          <a:p>
            <a:r>
              <a:rPr lang="en-IN" sz="3200" dirty="0">
                <a:solidFill>
                  <a:schemeClr val="tx2">
                    <a:lumMod val="50000"/>
                    <a:lumOff val="50000"/>
                  </a:schemeClr>
                </a:solidFill>
                <a:latin typeface="Times New Roman" panose="02020603050405020304" pitchFamily="18" charset="0"/>
                <a:cs typeface="Times New Roman" panose="02020603050405020304" pitchFamily="18" charset="0"/>
              </a:rPr>
              <a:t>UML DIAGRAMS FOR PROPOSED SYSTEM</a:t>
            </a:r>
          </a:p>
        </p:txBody>
      </p:sp>
      <p:sp>
        <p:nvSpPr>
          <p:cNvPr id="2" name="TextBox 1">
            <a:extLst>
              <a:ext uri="{FF2B5EF4-FFF2-40B4-BE49-F238E27FC236}">
                <a16:creationId xmlns:a16="http://schemas.microsoft.com/office/drawing/2014/main" id="{9A17DCE0-AA88-A073-730C-6A939F4CDD37}"/>
              </a:ext>
            </a:extLst>
          </p:cNvPr>
          <p:cNvSpPr txBox="1"/>
          <p:nvPr/>
        </p:nvSpPr>
        <p:spPr>
          <a:xfrm>
            <a:off x="1029419" y="1224951"/>
            <a:ext cx="3312543"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1.Use Case diagram</a:t>
            </a:r>
          </a:p>
        </p:txBody>
      </p:sp>
      <p:pic>
        <p:nvPicPr>
          <p:cNvPr id="1026" name="Picture 2" descr="PlantUML diagram">
            <a:extLst>
              <a:ext uri="{FF2B5EF4-FFF2-40B4-BE49-F238E27FC236}">
                <a16:creationId xmlns:a16="http://schemas.microsoft.com/office/drawing/2014/main" id="{ECE3A428-5FCF-2A94-C961-7935F867D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594" y="1876424"/>
            <a:ext cx="10358331" cy="4012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046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PlantUML diagram">
            <a:extLst>
              <a:ext uri="{FF2B5EF4-FFF2-40B4-BE49-F238E27FC236}">
                <a16:creationId xmlns:a16="http://schemas.microsoft.com/office/drawing/2014/main" id="{21148CCA-04F3-F9BB-707B-BD905FF069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380" y="1138688"/>
            <a:ext cx="11392619" cy="48652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CD5869E-5A86-3D5A-4329-A326E9762FB7}"/>
              </a:ext>
            </a:extLst>
          </p:cNvPr>
          <p:cNvSpPr txBox="1"/>
          <p:nvPr/>
        </p:nvSpPr>
        <p:spPr>
          <a:xfrm>
            <a:off x="799381" y="425569"/>
            <a:ext cx="3082506"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2.Class Diagram</a:t>
            </a:r>
          </a:p>
        </p:txBody>
      </p:sp>
    </p:spTree>
    <p:extLst>
      <p:ext uri="{BB962C8B-B14F-4D97-AF65-F5344CB8AC3E}">
        <p14:creationId xmlns:p14="http://schemas.microsoft.com/office/powerpoint/2010/main" val="482458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9E60-7DFA-AB4B-351C-602DC11CC42D}"/>
            </a:ext>
          </a:extLst>
        </p:cNvPr>
        <p:cNvGrpSpPr/>
        <p:nvPr/>
      </p:nvGrpSpPr>
      <p:grpSpPr>
        <a:xfrm>
          <a:off x="0" y="0"/>
          <a:ext cx="0" cy="0"/>
          <a:chOff x="0" y="0"/>
          <a:chExt cx="0" cy="0"/>
        </a:xfrm>
      </p:grpSpPr>
      <p:pic>
        <p:nvPicPr>
          <p:cNvPr id="3074" name="Picture 2" descr="PlantUML diagram">
            <a:extLst>
              <a:ext uri="{FF2B5EF4-FFF2-40B4-BE49-F238E27FC236}">
                <a16:creationId xmlns:a16="http://schemas.microsoft.com/office/drawing/2014/main" id="{17B08FDF-F6FB-64A4-680D-40F16971D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815" y="977661"/>
            <a:ext cx="9874369" cy="58803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C50027-E38B-35EE-881F-471318A64130}"/>
              </a:ext>
            </a:extLst>
          </p:cNvPr>
          <p:cNvSpPr txBox="1"/>
          <p:nvPr/>
        </p:nvSpPr>
        <p:spPr>
          <a:xfrm>
            <a:off x="787879" y="373811"/>
            <a:ext cx="535987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3.Activity Diagram</a:t>
            </a:r>
          </a:p>
        </p:txBody>
      </p:sp>
    </p:spTree>
    <p:extLst>
      <p:ext uri="{BB962C8B-B14F-4D97-AF65-F5344CB8AC3E}">
        <p14:creationId xmlns:p14="http://schemas.microsoft.com/office/powerpoint/2010/main" val="3601722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58535-4DA9-97E9-72E4-52A22A9E4F16}"/>
            </a:ext>
          </a:extLst>
        </p:cNvPr>
        <p:cNvGrpSpPr/>
        <p:nvPr/>
      </p:nvGrpSpPr>
      <p:grpSpPr>
        <a:xfrm>
          <a:off x="0" y="0"/>
          <a:ext cx="0" cy="0"/>
          <a:chOff x="0" y="0"/>
          <a:chExt cx="0" cy="0"/>
        </a:xfrm>
      </p:grpSpPr>
      <p:pic>
        <p:nvPicPr>
          <p:cNvPr id="4098" name="Picture 2" descr="PlantUML diagram">
            <a:extLst>
              <a:ext uri="{FF2B5EF4-FFF2-40B4-BE49-F238E27FC236}">
                <a16:creationId xmlns:a16="http://schemas.microsoft.com/office/drawing/2014/main" id="{38678237-C7BD-D004-EA7B-CB78D2667E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 y="1167442"/>
            <a:ext cx="9834113" cy="49395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EF92156-2EAF-62E2-3096-54E9C82E6FF9}"/>
              </a:ext>
            </a:extLst>
          </p:cNvPr>
          <p:cNvSpPr txBox="1"/>
          <p:nvPr/>
        </p:nvSpPr>
        <p:spPr>
          <a:xfrm>
            <a:off x="822385" y="454324"/>
            <a:ext cx="866092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4.Sequence Diagram</a:t>
            </a:r>
          </a:p>
        </p:txBody>
      </p:sp>
    </p:spTree>
    <p:extLst>
      <p:ext uri="{BB962C8B-B14F-4D97-AF65-F5344CB8AC3E}">
        <p14:creationId xmlns:p14="http://schemas.microsoft.com/office/powerpoint/2010/main" val="738579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34A0AA-53EB-B96E-0ABC-5289C0D51324}"/>
              </a:ext>
            </a:extLst>
          </p:cNvPr>
          <p:cNvSpPr txBox="1"/>
          <p:nvPr/>
        </p:nvSpPr>
        <p:spPr>
          <a:xfrm>
            <a:off x="891396" y="575094"/>
            <a:ext cx="7159924" cy="584775"/>
          </a:xfrm>
          <a:prstGeom prst="rect">
            <a:avLst/>
          </a:prstGeom>
          <a:noFill/>
        </p:spPr>
        <p:txBody>
          <a:bodyPr wrap="square" rtlCol="0">
            <a:spAutoFit/>
          </a:bodyPr>
          <a:lstStyle/>
          <a:p>
            <a:r>
              <a:rPr lang="en-IN" sz="3200" b="1" dirty="0">
                <a:solidFill>
                  <a:schemeClr val="tx2">
                    <a:lumMod val="50000"/>
                    <a:lumOff val="50000"/>
                  </a:schemeClr>
                </a:solidFill>
                <a:latin typeface="Times New Roman" panose="02020603050405020304" pitchFamily="18" charset="0"/>
                <a:cs typeface="Times New Roman" panose="02020603050405020304" pitchFamily="18" charset="0"/>
              </a:rPr>
              <a:t>OUTPUT</a:t>
            </a:r>
          </a:p>
        </p:txBody>
      </p:sp>
      <p:pic>
        <p:nvPicPr>
          <p:cNvPr id="1025" name="Picture 1">
            <a:extLst>
              <a:ext uri="{FF2B5EF4-FFF2-40B4-BE49-F238E27FC236}">
                <a16:creationId xmlns:a16="http://schemas.microsoft.com/office/drawing/2014/main" id="{6DFE0FAF-FB87-EAE4-15E7-C9DF3760EF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40" y="1305464"/>
            <a:ext cx="9776603" cy="42470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B9665A39-69F9-E85B-1AA5-4087CE2CD156}"/>
              </a:ext>
            </a:extLst>
          </p:cNvPr>
          <p:cNvSpPr>
            <a:spLocks noChangeArrowheads="1"/>
          </p:cNvSpPr>
          <p:nvPr/>
        </p:nvSpPr>
        <p:spPr bwMode="auto">
          <a:xfrm>
            <a:off x="891396" y="13054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739E33BF-7783-981A-9BEE-CAF0FA6E28CD}"/>
              </a:ext>
            </a:extLst>
          </p:cNvPr>
          <p:cNvSpPr txBox="1"/>
          <p:nvPr/>
        </p:nvSpPr>
        <p:spPr>
          <a:xfrm>
            <a:off x="3605842" y="5929223"/>
            <a:ext cx="5365630" cy="400110"/>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Before Data Preprocessing</a:t>
            </a:r>
          </a:p>
        </p:txBody>
      </p:sp>
    </p:spTree>
    <p:extLst>
      <p:ext uri="{BB962C8B-B14F-4D97-AF65-F5344CB8AC3E}">
        <p14:creationId xmlns:p14="http://schemas.microsoft.com/office/powerpoint/2010/main" val="1401124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2C58A1-E22D-12A7-4DF4-D0D41BD27E6B}"/>
              </a:ext>
            </a:extLst>
          </p:cNvPr>
          <p:cNvPicPr>
            <a:picLocks noChangeAspect="1"/>
          </p:cNvPicPr>
          <p:nvPr/>
        </p:nvPicPr>
        <p:blipFill>
          <a:blip r:embed="rId2"/>
          <a:stretch>
            <a:fillRect/>
          </a:stretch>
        </p:blipFill>
        <p:spPr>
          <a:xfrm>
            <a:off x="833886" y="958586"/>
            <a:ext cx="10202174" cy="4355285"/>
          </a:xfrm>
          <a:prstGeom prst="rect">
            <a:avLst/>
          </a:prstGeom>
        </p:spPr>
      </p:pic>
      <p:sp>
        <p:nvSpPr>
          <p:cNvPr id="5" name="TextBox 4">
            <a:extLst>
              <a:ext uri="{FF2B5EF4-FFF2-40B4-BE49-F238E27FC236}">
                <a16:creationId xmlns:a16="http://schemas.microsoft.com/office/drawing/2014/main" id="{657DDB0E-C60A-7B98-964A-AEFF3FDC4FD7}"/>
              </a:ext>
            </a:extLst>
          </p:cNvPr>
          <p:cNvSpPr txBox="1"/>
          <p:nvPr/>
        </p:nvSpPr>
        <p:spPr>
          <a:xfrm>
            <a:off x="4606506" y="5624422"/>
            <a:ext cx="2773516" cy="400110"/>
          </a:xfrm>
          <a:prstGeom prst="rect">
            <a:avLst/>
          </a:prstGeom>
          <a:noFill/>
        </p:spPr>
        <p:txBody>
          <a:bodyPr wrap="none" rtlCol="0">
            <a:spAutoFit/>
          </a:bodyPr>
          <a:lstStyle/>
          <a:p>
            <a:pPr algn="r"/>
            <a:r>
              <a:rPr lang="en-IN" sz="2000" dirty="0">
                <a:latin typeface="Times New Roman" panose="02020603050405020304" pitchFamily="18" charset="0"/>
                <a:cs typeface="Times New Roman" panose="02020603050405020304" pitchFamily="18" charset="0"/>
              </a:rPr>
              <a:t>After Data Preprocessing</a:t>
            </a:r>
          </a:p>
        </p:txBody>
      </p:sp>
    </p:spTree>
    <p:extLst>
      <p:ext uri="{BB962C8B-B14F-4D97-AF65-F5344CB8AC3E}">
        <p14:creationId xmlns:p14="http://schemas.microsoft.com/office/powerpoint/2010/main" val="131571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7F54A5-14D4-B3BD-4EDD-D7058B3A5683}"/>
              </a:ext>
            </a:extLst>
          </p:cNvPr>
          <p:cNvPicPr>
            <a:picLocks noChangeAspect="1"/>
          </p:cNvPicPr>
          <p:nvPr/>
        </p:nvPicPr>
        <p:blipFill>
          <a:blip r:embed="rId2"/>
          <a:stretch>
            <a:fillRect/>
          </a:stretch>
        </p:blipFill>
        <p:spPr>
          <a:xfrm>
            <a:off x="1349032" y="697567"/>
            <a:ext cx="9470931" cy="5320631"/>
          </a:xfrm>
          <a:prstGeom prst="rect">
            <a:avLst/>
          </a:prstGeom>
        </p:spPr>
      </p:pic>
    </p:spTree>
    <p:extLst>
      <p:ext uri="{BB962C8B-B14F-4D97-AF65-F5344CB8AC3E}">
        <p14:creationId xmlns:p14="http://schemas.microsoft.com/office/powerpoint/2010/main" val="2155028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3FEFE-8908-5D0B-1D08-065AB254C4A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E640AF-09FC-20E9-33B8-3A9B1D168577}"/>
              </a:ext>
            </a:extLst>
          </p:cNvPr>
          <p:cNvPicPr>
            <a:picLocks noChangeAspect="1"/>
          </p:cNvPicPr>
          <p:nvPr/>
        </p:nvPicPr>
        <p:blipFill>
          <a:blip r:embed="rId2"/>
          <a:stretch>
            <a:fillRect/>
          </a:stretch>
        </p:blipFill>
        <p:spPr>
          <a:xfrm>
            <a:off x="718973" y="736120"/>
            <a:ext cx="10303468" cy="5236343"/>
          </a:xfrm>
          <a:prstGeom prst="rect">
            <a:avLst/>
          </a:prstGeom>
        </p:spPr>
      </p:pic>
    </p:spTree>
    <p:extLst>
      <p:ext uri="{BB962C8B-B14F-4D97-AF65-F5344CB8AC3E}">
        <p14:creationId xmlns:p14="http://schemas.microsoft.com/office/powerpoint/2010/main" val="1600935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5FE5-EABC-E168-C090-C2F5BDC9F42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431966-F749-A12E-8E51-BB1E6A2C0553}"/>
              </a:ext>
            </a:extLst>
          </p:cNvPr>
          <p:cNvPicPr>
            <a:picLocks noChangeAspect="1"/>
          </p:cNvPicPr>
          <p:nvPr/>
        </p:nvPicPr>
        <p:blipFill>
          <a:blip r:embed="rId2"/>
          <a:stretch>
            <a:fillRect/>
          </a:stretch>
        </p:blipFill>
        <p:spPr>
          <a:xfrm>
            <a:off x="850125" y="964524"/>
            <a:ext cx="10491749" cy="4786419"/>
          </a:xfrm>
          <a:prstGeom prst="rect">
            <a:avLst/>
          </a:prstGeom>
        </p:spPr>
      </p:pic>
    </p:spTree>
    <p:extLst>
      <p:ext uri="{BB962C8B-B14F-4D97-AF65-F5344CB8AC3E}">
        <p14:creationId xmlns:p14="http://schemas.microsoft.com/office/powerpoint/2010/main" val="351606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5D699-09AE-F28E-DE14-989ECA9E15A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D353A3-A791-6A29-3DD9-5E10E5480302}"/>
              </a:ext>
            </a:extLst>
          </p:cNvPr>
          <p:cNvPicPr>
            <a:picLocks noChangeAspect="1"/>
          </p:cNvPicPr>
          <p:nvPr/>
        </p:nvPicPr>
        <p:blipFill>
          <a:blip r:embed="rId2"/>
          <a:stretch>
            <a:fillRect/>
          </a:stretch>
        </p:blipFill>
        <p:spPr>
          <a:xfrm>
            <a:off x="2458528" y="687848"/>
            <a:ext cx="7274943" cy="5229263"/>
          </a:xfrm>
          <a:prstGeom prst="rect">
            <a:avLst/>
          </a:prstGeom>
        </p:spPr>
      </p:pic>
    </p:spTree>
    <p:extLst>
      <p:ext uri="{BB962C8B-B14F-4D97-AF65-F5344CB8AC3E}">
        <p14:creationId xmlns:p14="http://schemas.microsoft.com/office/powerpoint/2010/main" val="1800935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raph&#10;&#10;AI-generated content may be incorrect.">
            <a:extLst>
              <a:ext uri="{FF2B5EF4-FFF2-40B4-BE49-F238E27FC236}">
                <a16:creationId xmlns:a16="http://schemas.microsoft.com/office/drawing/2014/main" id="{596941B6-6095-05E8-ABB9-F297C37E59C8}"/>
              </a:ext>
            </a:extLst>
          </p:cNvPr>
          <p:cNvPicPr>
            <a:picLocks noChangeAspect="1"/>
          </p:cNvPicPr>
          <p:nvPr/>
        </p:nvPicPr>
        <p:blipFill>
          <a:blip r:embed="rId2"/>
          <a:stretch>
            <a:fillRect/>
          </a:stretch>
        </p:blipFill>
        <p:spPr>
          <a:xfrm>
            <a:off x="1124309" y="1159868"/>
            <a:ext cx="9943381" cy="4838365"/>
          </a:xfrm>
          <a:prstGeom prst="rect">
            <a:avLst/>
          </a:prstGeom>
        </p:spPr>
      </p:pic>
    </p:spTree>
    <p:extLst>
      <p:ext uri="{BB962C8B-B14F-4D97-AF65-F5344CB8AC3E}">
        <p14:creationId xmlns:p14="http://schemas.microsoft.com/office/powerpoint/2010/main" val="2587944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E27F70-F1A8-5960-FB2D-30AAF3BAB383}"/>
              </a:ext>
            </a:extLst>
          </p:cNvPr>
          <p:cNvPicPr>
            <a:picLocks noChangeAspect="1"/>
          </p:cNvPicPr>
          <p:nvPr/>
        </p:nvPicPr>
        <p:blipFill>
          <a:blip r:embed="rId2"/>
          <a:stretch>
            <a:fillRect/>
          </a:stretch>
        </p:blipFill>
        <p:spPr>
          <a:xfrm>
            <a:off x="874144" y="797942"/>
            <a:ext cx="10167668" cy="5262115"/>
          </a:xfrm>
          <a:prstGeom prst="rect">
            <a:avLst/>
          </a:prstGeom>
        </p:spPr>
      </p:pic>
    </p:spTree>
    <p:extLst>
      <p:ext uri="{BB962C8B-B14F-4D97-AF65-F5344CB8AC3E}">
        <p14:creationId xmlns:p14="http://schemas.microsoft.com/office/powerpoint/2010/main" val="1457871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a price chart&#10;&#10;AI-generated content may be incorrect.">
            <a:extLst>
              <a:ext uri="{FF2B5EF4-FFF2-40B4-BE49-F238E27FC236}">
                <a16:creationId xmlns:a16="http://schemas.microsoft.com/office/drawing/2014/main" id="{FD956FAD-6E1B-DAAA-D877-F71AAE189A94}"/>
              </a:ext>
            </a:extLst>
          </p:cNvPr>
          <p:cNvPicPr>
            <a:picLocks noChangeAspect="1"/>
          </p:cNvPicPr>
          <p:nvPr/>
        </p:nvPicPr>
        <p:blipFill>
          <a:blip r:embed="rId2"/>
          <a:stretch>
            <a:fillRect/>
          </a:stretch>
        </p:blipFill>
        <p:spPr>
          <a:xfrm>
            <a:off x="805131" y="758763"/>
            <a:ext cx="10219427" cy="5181962"/>
          </a:xfrm>
          <a:prstGeom prst="rect">
            <a:avLst/>
          </a:prstGeom>
        </p:spPr>
      </p:pic>
    </p:spTree>
    <p:extLst>
      <p:ext uri="{BB962C8B-B14F-4D97-AF65-F5344CB8AC3E}">
        <p14:creationId xmlns:p14="http://schemas.microsoft.com/office/powerpoint/2010/main" val="2356032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13CBC-A5EE-28BE-B253-E1145A872C54}"/>
            </a:ext>
          </a:extLst>
        </p:cNvPr>
        <p:cNvGrpSpPr/>
        <p:nvPr/>
      </p:nvGrpSpPr>
      <p:grpSpPr>
        <a:xfrm>
          <a:off x="0" y="0"/>
          <a:ext cx="0" cy="0"/>
          <a:chOff x="0" y="0"/>
          <a:chExt cx="0" cy="0"/>
        </a:xfrm>
      </p:grpSpPr>
      <p:pic>
        <p:nvPicPr>
          <p:cNvPr id="7" name="Picture 6" descr="A black and white chart with numbers and numbers&#10;&#10;AI-generated content may be incorrect.">
            <a:extLst>
              <a:ext uri="{FF2B5EF4-FFF2-40B4-BE49-F238E27FC236}">
                <a16:creationId xmlns:a16="http://schemas.microsoft.com/office/drawing/2014/main" id="{66664433-3600-90E6-C9B0-29B1ED3C5A5C}"/>
              </a:ext>
            </a:extLst>
          </p:cNvPr>
          <p:cNvPicPr>
            <a:picLocks noChangeAspect="1"/>
          </p:cNvPicPr>
          <p:nvPr/>
        </p:nvPicPr>
        <p:blipFill>
          <a:blip r:embed="rId2"/>
          <a:stretch>
            <a:fillRect/>
          </a:stretch>
        </p:blipFill>
        <p:spPr>
          <a:xfrm>
            <a:off x="822385" y="893912"/>
            <a:ext cx="9874370" cy="5432125"/>
          </a:xfrm>
          <a:prstGeom prst="rect">
            <a:avLst/>
          </a:prstGeom>
        </p:spPr>
      </p:pic>
    </p:spTree>
    <p:extLst>
      <p:ext uri="{BB962C8B-B14F-4D97-AF65-F5344CB8AC3E}">
        <p14:creationId xmlns:p14="http://schemas.microsoft.com/office/powerpoint/2010/main" val="1696685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92043-B4BA-0910-4562-AE8BC8C3E9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B8552E-3C07-2A3F-10DA-27C53B28E82E}"/>
              </a:ext>
            </a:extLst>
          </p:cNvPr>
          <p:cNvSpPr txBox="1"/>
          <p:nvPr/>
        </p:nvSpPr>
        <p:spPr>
          <a:xfrm>
            <a:off x="868393" y="552091"/>
            <a:ext cx="10783019" cy="584775"/>
          </a:xfrm>
          <a:prstGeom prst="rect">
            <a:avLst/>
          </a:prstGeom>
          <a:noFill/>
        </p:spPr>
        <p:txBody>
          <a:bodyPr wrap="square" rtlCol="0">
            <a:spAutoFit/>
          </a:bodyPr>
          <a:lstStyle/>
          <a:p>
            <a:r>
              <a:rPr lang="en-IN" sz="3200" dirty="0">
                <a:solidFill>
                  <a:schemeClr val="tx2">
                    <a:lumMod val="50000"/>
                    <a:lumOff val="50000"/>
                  </a:schemeClr>
                </a:solidFill>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78DAA9AC-A932-3F29-F70C-5AA10E0F75A3}"/>
              </a:ext>
            </a:extLst>
          </p:cNvPr>
          <p:cNvSpPr txBox="1"/>
          <p:nvPr/>
        </p:nvSpPr>
        <p:spPr>
          <a:xfrm>
            <a:off x="1547004" y="1442403"/>
            <a:ext cx="9057736" cy="4893647"/>
          </a:xfrm>
          <a:prstGeom prst="rect">
            <a:avLst/>
          </a:prstGeom>
          <a:noFill/>
        </p:spPr>
        <p:txBody>
          <a:bodyPr wrap="square">
            <a:spAutoFit/>
          </a:bodyPr>
          <a:lstStyle/>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this project, we successfully analyzed historical aluminum price data and developed forecasting models to predict future price trends. By leveraging time series analysis and machine learning techniques, we were able to uncover underlying patterns and seasonality in aluminum pricing. The resulting forecasts provide valuable insights that can inform decisions for industries and investors regarding procurement, budgeting, and strategic planning.</a:t>
            </a:r>
          </a:p>
          <a:p>
            <a:pPr algn="just"/>
            <a:endParaRPr lang="en-US" sz="2400" baseline="30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While the models performed reasonably well, future improvements could include incorporating external economic indicators, news sentiment, or global market trends to enhance forecasting accuracy further. Overall, this project demonstrates the practical value of data-driven forecasting in the commodities market.</a:t>
            </a:r>
          </a:p>
        </p:txBody>
      </p:sp>
    </p:spTree>
    <p:extLst>
      <p:ext uri="{BB962C8B-B14F-4D97-AF65-F5344CB8AC3E}">
        <p14:creationId xmlns:p14="http://schemas.microsoft.com/office/powerpoint/2010/main" val="4229614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0740-C024-79F7-6AB6-6268D7278B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3B7A24-FF25-EA45-E1F3-86CC3CFEDF8C}"/>
              </a:ext>
            </a:extLst>
          </p:cNvPr>
          <p:cNvSpPr txBox="1"/>
          <p:nvPr/>
        </p:nvSpPr>
        <p:spPr>
          <a:xfrm>
            <a:off x="856890" y="529087"/>
            <a:ext cx="6245525" cy="584775"/>
          </a:xfrm>
          <a:prstGeom prst="rect">
            <a:avLst/>
          </a:prstGeom>
          <a:noFill/>
        </p:spPr>
        <p:txBody>
          <a:bodyPr wrap="square" rtlCol="0">
            <a:spAutoFit/>
          </a:bodyPr>
          <a:lstStyle/>
          <a:p>
            <a:r>
              <a:rPr lang="en-IN" sz="3200" dirty="0">
                <a:solidFill>
                  <a:schemeClr val="tx2">
                    <a:lumMod val="50000"/>
                    <a:lumOff val="50000"/>
                  </a:schemeClr>
                </a:solidFill>
                <a:latin typeface="Times New Roman" panose="02020603050405020304" pitchFamily="18" charset="0"/>
                <a:cs typeface="Times New Roman" panose="02020603050405020304" pitchFamily="18" charset="0"/>
              </a:rPr>
              <a:t>FUTURE ENHANCEMENT</a:t>
            </a:r>
          </a:p>
        </p:txBody>
      </p:sp>
      <p:sp>
        <p:nvSpPr>
          <p:cNvPr id="4" name="TextBox 3">
            <a:extLst>
              <a:ext uri="{FF2B5EF4-FFF2-40B4-BE49-F238E27FC236}">
                <a16:creationId xmlns:a16="http://schemas.microsoft.com/office/drawing/2014/main" id="{40E04411-FF60-C910-0974-783E642CD5FF}"/>
              </a:ext>
            </a:extLst>
          </p:cNvPr>
          <p:cNvSpPr txBox="1"/>
          <p:nvPr/>
        </p:nvSpPr>
        <p:spPr>
          <a:xfrm>
            <a:off x="1138687" y="1120676"/>
            <a:ext cx="9742098" cy="4401205"/>
          </a:xfrm>
          <a:prstGeom prst="rect">
            <a:avLst/>
          </a:prstGeom>
          <a:noFill/>
        </p:spPr>
        <p:txBody>
          <a:bodyPr wrap="square">
            <a:spAutoFit/>
          </a:bodyPr>
          <a:lstStyle/>
          <a:p>
            <a:pPr marL="342900" indent="-342900" algn="just">
              <a:buFont typeface="Wingdings" panose="05000000000000000000" pitchFamily="2" charset="2"/>
              <a:buChar char="Ø"/>
            </a:pPr>
            <a:r>
              <a:rPr lang="en-US" sz="2800" b="1" dirty="0">
                <a:latin typeface="Times New Roman" panose="02020603050405020304" pitchFamily="18" charset="0"/>
                <a:ea typeface="+mn-lt"/>
                <a:cs typeface="Times New Roman" panose="02020603050405020304" pitchFamily="18" charset="0"/>
              </a:rPr>
              <a:t>Real-time Data Integration</a:t>
            </a:r>
          </a:p>
          <a:p>
            <a:pPr algn="just"/>
            <a:r>
              <a:rPr lang="en-US" sz="2800" dirty="0">
                <a:latin typeface="Times New Roman" panose="02020603050405020304" pitchFamily="18" charset="0"/>
                <a:ea typeface="+mn-lt"/>
                <a:cs typeface="Times New Roman" panose="02020603050405020304" pitchFamily="18" charset="0"/>
              </a:rPr>
              <a:t>Connect to live data sources via APIs for up-to-date forecasting.</a:t>
            </a:r>
          </a:p>
          <a:p>
            <a:pPr marL="342900" indent="-342900" algn="just">
              <a:buFont typeface="Wingdings" panose="05000000000000000000" pitchFamily="2" charset="2"/>
              <a:buChar char="Ø"/>
            </a:pPr>
            <a:r>
              <a:rPr lang="en-US" sz="2800" b="1" dirty="0">
                <a:latin typeface="Times New Roman" panose="02020603050405020304" pitchFamily="18" charset="0"/>
                <a:ea typeface="+mn-lt"/>
                <a:cs typeface="Times New Roman" panose="02020603050405020304" pitchFamily="18" charset="0"/>
              </a:rPr>
              <a:t>Advanced Modeling &amp; Auto ML</a:t>
            </a:r>
          </a:p>
          <a:p>
            <a:pPr algn="just"/>
            <a:r>
              <a:rPr lang="en-US" sz="2800" dirty="0">
                <a:latin typeface="Times New Roman" panose="02020603050405020304" pitchFamily="18" charset="0"/>
                <a:ea typeface="+mn-lt"/>
                <a:cs typeface="Times New Roman" panose="02020603050405020304" pitchFamily="18" charset="0"/>
              </a:rPr>
              <a:t>Implement multiple forecasting algorithms with automated model selection.</a:t>
            </a:r>
          </a:p>
          <a:p>
            <a:pPr marL="342900" indent="-342900" algn="just">
              <a:buFont typeface="Wingdings" panose="05000000000000000000" pitchFamily="2" charset="2"/>
              <a:buChar char="Ø"/>
            </a:pPr>
            <a:r>
              <a:rPr lang="en-US" sz="2800" b="1" dirty="0">
                <a:latin typeface="Times New Roman" panose="02020603050405020304" pitchFamily="18" charset="0"/>
                <a:ea typeface="+mn-lt"/>
                <a:cs typeface="Times New Roman" panose="02020603050405020304" pitchFamily="18" charset="0"/>
              </a:rPr>
              <a:t>Anomaly Detection &amp; Alerts</a:t>
            </a:r>
          </a:p>
          <a:p>
            <a:pPr algn="just"/>
            <a:r>
              <a:rPr lang="en-US" sz="2800" dirty="0">
                <a:latin typeface="Times New Roman" panose="02020603050405020304" pitchFamily="18" charset="0"/>
                <a:ea typeface="+mn-lt"/>
                <a:cs typeface="Times New Roman" panose="02020603050405020304" pitchFamily="18" charset="0"/>
              </a:rPr>
              <a:t>Identify unusual trends or price spikes to aid in risk management.</a:t>
            </a:r>
          </a:p>
          <a:p>
            <a:pPr marL="342900" indent="-342900" algn="just">
              <a:buFont typeface="Wingdings" panose="05000000000000000000" pitchFamily="2" charset="2"/>
              <a:buChar char="Ø"/>
            </a:pPr>
            <a:r>
              <a:rPr lang="en-US" sz="2800" b="1" dirty="0">
                <a:latin typeface="Times New Roman" panose="02020603050405020304" pitchFamily="18" charset="0"/>
                <a:ea typeface="+mn-lt"/>
                <a:cs typeface="Times New Roman" panose="02020603050405020304" pitchFamily="18" charset="0"/>
              </a:rPr>
              <a:t>Automated Reporting</a:t>
            </a:r>
          </a:p>
          <a:p>
            <a:pPr algn="just"/>
            <a:r>
              <a:rPr lang="en-US" sz="2800" dirty="0">
                <a:latin typeface="Times New Roman" panose="02020603050405020304" pitchFamily="18" charset="0"/>
                <a:ea typeface="+mn-lt"/>
                <a:cs typeface="Times New Roman" panose="02020603050405020304" pitchFamily="18" charset="0"/>
              </a:rPr>
              <a:t>Generate periodic summary reports of forecast results and model performance.</a:t>
            </a:r>
          </a:p>
        </p:txBody>
      </p:sp>
    </p:spTree>
    <p:extLst>
      <p:ext uri="{BB962C8B-B14F-4D97-AF65-F5344CB8AC3E}">
        <p14:creationId xmlns:p14="http://schemas.microsoft.com/office/powerpoint/2010/main" val="1855424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3F113-3383-6970-4839-CFC546A14E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D1EDFD-E607-DF7B-0B12-0A41322D62C4}"/>
              </a:ext>
            </a:extLst>
          </p:cNvPr>
          <p:cNvSpPr txBox="1"/>
          <p:nvPr/>
        </p:nvSpPr>
        <p:spPr>
          <a:xfrm>
            <a:off x="856890" y="488830"/>
            <a:ext cx="2852468" cy="584775"/>
          </a:xfrm>
          <a:prstGeom prst="rect">
            <a:avLst/>
          </a:prstGeom>
          <a:noFill/>
        </p:spPr>
        <p:txBody>
          <a:bodyPr wrap="square" rtlCol="0">
            <a:spAutoFit/>
          </a:bodyPr>
          <a:lstStyle/>
          <a:p>
            <a:r>
              <a:rPr lang="en-IN" sz="3200" dirty="0">
                <a:solidFill>
                  <a:schemeClr val="tx2">
                    <a:lumMod val="50000"/>
                    <a:lumOff val="50000"/>
                  </a:schemeClr>
                </a:solidFill>
                <a:latin typeface="Times New Roman" panose="02020603050405020304" pitchFamily="18" charset="0"/>
                <a:cs typeface="Times New Roman" panose="02020603050405020304" pitchFamily="18" charset="0"/>
              </a:rPr>
              <a:t>REFERENCES</a:t>
            </a:r>
          </a:p>
        </p:txBody>
      </p:sp>
      <p:sp>
        <p:nvSpPr>
          <p:cNvPr id="7" name="TextBox 6">
            <a:extLst>
              <a:ext uri="{FF2B5EF4-FFF2-40B4-BE49-F238E27FC236}">
                <a16:creationId xmlns:a16="http://schemas.microsoft.com/office/drawing/2014/main" id="{7B013DA0-5996-033B-AA37-429C37021D49}"/>
              </a:ext>
            </a:extLst>
          </p:cNvPr>
          <p:cNvSpPr txBox="1"/>
          <p:nvPr/>
        </p:nvSpPr>
        <p:spPr>
          <a:xfrm>
            <a:off x="856889" y="1242074"/>
            <a:ext cx="10449465" cy="5724644"/>
          </a:xfrm>
          <a:prstGeom prst="rect">
            <a:avLst/>
          </a:prstGeom>
          <a:noFill/>
        </p:spPr>
        <p:txBody>
          <a:bodyPr wrap="square">
            <a:spAutoFit/>
          </a:bodyPr>
          <a:lstStyle/>
          <a:p>
            <a:pPr marL="285750" indent="-28575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Data Collection</a:t>
            </a:r>
          </a:p>
          <a:p>
            <a:r>
              <a:rPr lang="en-US" sz="2400" b="1" dirty="0">
                <a:solidFill>
                  <a:schemeClr val="tx2">
                    <a:lumMod val="50000"/>
                    <a:lumOff val="50000"/>
                  </a:schemeClr>
                </a:solidFill>
                <a:latin typeface="Times New Roman" panose="02020603050405020304" pitchFamily="18" charset="0"/>
                <a:cs typeface="Times New Roman" panose="02020603050405020304" pitchFamily="18" charset="0"/>
              </a:rPr>
              <a:t>1. Sources:</a:t>
            </a:r>
            <a:endParaRPr lang="en-US" sz="2400" dirty="0">
              <a:solidFill>
                <a:schemeClr val="tx2">
                  <a:lumMod val="50000"/>
                  <a:lumOff val="50000"/>
                </a:schemeClr>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Market Prices: </a:t>
            </a:r>
            <a:r>
              <a:rPr lang="en-US" sz="2000" dirty="0">
                <a:latin typeface="Times New Roman" panose="02020603050405020304" pitchFamily="18" charset="0"/>
                <a:cs typeface="Times New Roman" panose="02020603050405020304" pitchFamily="18" charset="0"/>
              </a:rPr>
              <a:t>London Metal Exchange (LME), Bloomberg, Yahoo Finance</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Economic Indicators: </a:t>
            </a:r>
            <a:r>
              <a:rPr lang="en-US" sz="2000" dirty="0">
                <a:latin typeface="Times New Roman" panose="02020603050405020304" pitchFamily="18" charset="0"/>
                <a:cs typeface="Times New Roman" panose="02020603050405020304" pitchFamily="18" charset="0"/>
              </a:rPr>
              <a:t>IMF, World Bank, OECD</a:t>
            </a:r>
          </a:p>
          <a:p>
            <a:r>
              <a:rPr lang="en-US" sz="2000" b="1" dirty="0">
                <a:latin typeface="Times New Roman" panose="02020603050405020304" pitchFamily="18" charset="0"/>
                <a:cs typeface="Times New Roman" panose="02020603050405020304" pitchFamily="18" charset="0"/>
              </a:rPr>
              <a:t>   Supply &amp; Demand:</a:t>
            </a:r>
            <a:r>
              <a:rPr lang="en-US" sz="2000" dirty="0">
                <a:latin typeface="Times New Roman" panose="02020603050405020304" pitchFamily="18" charset="0"/>
                <a:cs typeface="Times New Roman" panose="02020603050405020304" pitchFamily="18" charset="0"/>
              </a:rPr>
              <a:t> International Aluminum Institute, USGS</a:t>
            </a:r>
          </a:p>
          <a:p>
            <a:r>
              <a:rPr lang="en-US" sz="2000" b="1" dirty="0">
                <a:latin typeface="Times New Roman" panose="02020603050405020304" pitchFamily="18" charset="0"/>
                <a:cs typeface="Times New Roman" panose="02020603050405020304" pitchFamily="18" charset="0"/>
              </a:rPr>
              <a:t>   Formats:</a:t>
            </a:r>
            <a:r>
              <a:rPr lang="en-US" sz="2000" dirty="0">
                <a:latin typeface="Times New Roman" panose="02020603050405020304" pitchFamily="18" charset="0"/>
                <a:cs typeface="Times New Roman" panose="02020603050405020304" pitchFamily="18" charset="0"/>
              </a:rPr>
              <a:t> CSV, JSON, APIs, SQL databases</a:t>
            </a:r>
          </a:p>
          <a:p>
            <a:endParaRPr lang="en-US" sz="1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Handling Missing Values</a:t>
            </a: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missing values using .isnull().sum().</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a:t>
            </a:r>
            <a:r>
              <a:rPr lang="en-US" sz="2000" b="1" dirty="0">
                <a:latin typeface="Times New Roman" panose="02020603050405020304" pitchFamily="18" charset="0"/>
                <a:cs typeface="Times New Roman" panose="02020603050405020304" pitchFamily="18" charset="0"/>
              </a:rPr>
              <a:t>ML-based imputation</a:t>
            </a:r>
            <a:r>
              <a:rPr lang="en-US" sz="2000" dirty="0">
                <a:latin typeface="Times New Roman" panose="02020603050405020304" pitchFamily="18" charset="0"/>
                <a:cs typeface="Times New Roman" panose="02020603050405020304" pitchFamily="18" charset="0"/>
              </a:rPr>
              <a:t> if multiple features are missing.</a:t>
            </a:r>
          </a:p>
          <a:p>
            <a:endParaRPr lang="en-US" sz="1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Microsoft Azure. (n.d.).Times series forecasting on AZURE. Retrieved from </a:t>
            </a:r>
            <a:r>
              <a:rPr lang="en-US" sz="2000" dirty="0">
                <a:latin typeface="Times New Roman" panose="02020603050405020304" pitchFamily="18" charset="0"/>
                <a:cs typeface="Times New Roman" panose="02020603050405020304" pitchFamily="18" charset="0"/>
                <a:hlinkClick r:id="rId2"/>
              </a:rPr>
              <a:t>https://learn.microsoft.com</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 Provides an overview of deploying forecasting models on cloud infrastructure.</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OECD. (2023). Main Economic Indicators. Retrieved from </a:t>
            </a:r>
            <a:r>
              <a:rPr lang="en-IN" sz="2000" u="sng" dirty="0">
                <a:solidFill>
                  <a:schemeClr val="tx2">
                    <a:lumMod val="75000"/>
                    <a:lumOff val="25000"/>
                  </a:schemeClr>
                </a:solidFill>
                <a:latin typeface="Times New Roman" panose="02020603050405020304" pitchFamily="18" charset="0"/>
                <a:cs typeface="Times New Roman" panose="02020603050405020304" pitchFamily="18" charset="0"/>
                <a:hlinkClick r:id="rId3"/>
              </a:rPr>
              <a:t>https://www.oecd.org/statistics/mei/.html</a:t>
            </a:r>
            <a:endParaRPr lang="en-IN" sz="2000" u="sng" dirty="0">
              <a:solidFill>
                <a:schemeClr val="tx2">
                  <a:lumMod val="75000"/>
                  <a:lumOff val="25000"/>
                </a:schemeClr>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 Source for incorporating macroeconomic data into forecasting models.</a:t>
            </a:r>
          </a:p>
          <a:p>
            <a:endParaRPr lang="en-IN" u="sng"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152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6315-ED8D-DF7B-EF0C-9755A7D53504}"/>
            </a:ext>
          </a:extLst>
        </p:cNvPr>
        <p:cNvGrpSpPr/>
        <p:nvPr/>
      </p:nvGrpSpPr>
      <p:grpSpPr>
        <a:xfrm>
          <a:off x="0" y="0"/>
          <a:ext cx="0" cy="0"/>
          <a:chOff x="0" y="0"/>
          <a:chExt cx="0" cy="0"/>
        </a:xfrm>
      </p:grpSpPr>
      <p:pic>
        <p:nvPicPr>
          <p:cNvPr id="7174" name="Picture 6">
            <a:extLst>
              <a:ext uri="{FF2B5EF4-FFF2-40B4-BE49-F238E27FC236}">
                <a16:creationId xmlns:a16="http://schemas.microsoft.com/office/drawing/2014/main" id="{7F140A4C-AF5D-874D-24AE-CD5242014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334411"/>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0BE78-9FDF-401B-B412-3AA10EC5BEA3}">
  <ds:schemaRefs>
    <ds:schemaRef ds:uri="71af3243-3dd4-4a8d-8c0d-dd76da1f02a5"/>
    <ds:schemaRef ds:uri="http://www.w3.org/XML/1998/namespace"/>
    <ds:schemaRef ds:uri="http://purl.org/dc/dcmitype/"/>
    <ds:schemaRef ds:uri="http://purl.org/dc/elements/1.1/"/>
    <ds:schemaRef ds:uri="http://schemas.microsoft.com/sharepoint/v3"/>
    <ds:schemaRef ds:uri="230e9df3-be65-4c73-a93b-d1236ebd677e"/>
    <ds:schemaRef ds:uri="http://schemas.openxmlformats.org/package/2006/metadata/core-properties"/>
    <ds:schemaRef ds:uri="http://purl.org/dc/terms/"/>
    <ds:schemaRef ds:uri="http://schemas.microsoft.com/office/2006/documentManagement/types"/>
    <ds:schemaRef ds:uri="16c05727-aa75-4e4a-9b5f-8a80a1165891"/>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 lines design</Template>
  <TotalTime>606</TotalTime>
  <Words>1118</Words>
  <Application>Microsoft Office PowerPoint</Application>
  <PresentationFormat>Widescreen</PresentationFormat>
  <Paragraphs>146</Paragraphs>
  <Slides>30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Arial</vt:lpstr>
      <vt:lpstr>Calibri</vt:lpstr>
      <vt:lpstr>Times New Roman</vt:lpstr>
      <vt:lpstr>Univers Condensed Light</vt:lpstr>
      <vt:lpstr>Walbaum Display Light</vt:lpstr>
      <vt:lpstr>Wingdings</vt:lpstr>
      <vt:lpstr>AngleLinesVTI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Vamsi Krishna Reddy</dc:creator>
  <cp:lastModifiedBy>Vamsi Krishna Reddy</cp:lastModifiedBy>
  <cp:revision>13</cp:revision>
  <dcterms:created xsi:type="dcterms:W3CDTF">2025-04-07T15:36:41Z</dcterms:created>
  <dcterms:modified xsi:type="dcterms:W3CDTF">2025-04-16T05:35:09Z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